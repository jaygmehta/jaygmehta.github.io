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 snapToObjects="1">
      <p:cViewPr varScale="1">
        <p:scale>
          <a:sx n="115" d="100"/>
          <a:sy n="115" d="100"/>
        </p:scale>
        <p:origin x="14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D6FA-4AA6-4C54-CD98-1354866E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FCF845-A141-18F3-3564-348F2424F431}"/>
              </a:ext>
            </a:extLst>
          </p:cNvPr>
          <p:cNvSpPr txBox="1"/>
          <p:nvPr/>
        </p:nvSpPr>
        <p:spPr>
          <a:xfrm>
            <a:off x="457200" y="457200"/>
            <a:ext cx="824075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Hello and welcome to this </a:t>
            </a:r>
            <a:r>
              <a:rPr lang="en-IN" sz="3200" b="1" dirty="0"/>
              <a:t>MOOC on Topology</a:t>
            </a:r>
            <a:r>
              <a:rPr lang="en-IN" sz="3200" dirty="0"/>
              <a:t>.</a:t>
            </a:r>
          </a:p>
          <a:p>
            <a:endParaRPr lang="en-IN" sz="3200" dirty="0"/>
          </a:p>
          <a:p>
            <a:r>
              <a:rPr lang="en-IN" sz="3200" dirty="0"/>
              <a:t>In this course, we will explore one of the most elegant areas of modern mathematics.</a:t>
            </a:r>
          </a:p>
        </p:txBody>
      </p:sp>
    </p:spTree>
    <p:extLst>
      <p:ext uri="{BB962C8B-B14F-4D97-AF65-F5344CB8AC3E}">
        <p14:creationId xmlns:p14="http://schemas.microsoft.com/office/powerpoint/2010/main" val="294726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4075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I am </a:t>
            </a:r>
            <a:r>
              <a:rPr lang="en-IN" sz="3200" b="1" dirty="0"/>
              <a:t>Jay Mehta</a:t>
            </a:r>
            <a:r>
              <a:rPr lang="en-IN" sz="3200" dirty="0"/>
              <a:t>, assistant professor from the Department of Mathematics, SPU and I will be your instructor for this course.</a:t>
            </a:r>
          </a:p>
          <a:p>
            <a:endParaRPr lang="en-IN" sz="3200" dirty="0"/>
          </a:p>
          <a:p>
            <a:r>
              <a:rPr lang="en-IN" sz="3200" dirty="0"/>
              <a:t>I look forward to guiding you through this mathematical journey.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8ECD7-B8A5-B505-763E-AC3E56D5E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9272AF-9785-8F59-AA2D-8682967B022B}"/>
              </a:ext>
            </a:extLst>
          </p:cNvPr>
          <p:cNvSpPr txBox="1"/>
          <p:nvPr/>
        </p:nvSpPr>
        <p:spPr>
          <a:xfrm>
            <a:off x="457200" y="457200"/>
            <a:ext cx="824075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Topology is the study of the </a:t>
            </a:r>
            <a:r>
              <a:rPr lang="en-IN" sz="3200" b="1" dirty="0"/>
              <a:t>structure of spaces</a:t>
            </a:r>
            <a:r>
              <a:rPr lang="en-IN" sz="3200" dirty="0"/>
              <a:t>.</a:t>
            </a:r>
          </a:p>
          <a:p>
            <a:endParaRPr lang="en-IN" sz="3200" dirty="0"/>
          </a:p>
          <a:p>
            <a:r>
              <a:rPr lang="en-IN" sz="3200" dirty="0"/>
              <a:t>It focuses on properties that remain unchanged</a:t>
            </a:r>
            <a:br>
              <a:rPr lang="en-IN" sz="3200" dirty="0"/>
            </a:br>
            <a:r>
              <a:rPr lang="en-IN" sz="3200" dirty="0"/>
              <a:t>under continuous deformation.</a:t>
            </a:r>
          </a:p>
        </p:txBody>
      </p:sp>
    </p:spTree>
    <p:extLst>
      <p:ext uri="{BB962C8B-B14F-4D97-AF65-F5344CB8AC3E}">
        <p14:creationId xmlns:p14="http://schemas.microsoft.com/office/powerpoint/2010/main" val="4051186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A359B-DECF-4E46-B0C7-B3F608E88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B0FA6A-2820-561F-D33C-EEE54BB7AE75}"/>
              </a:ext>
            </a:extLst>
          </p:cNvPr>
          <p:cNvSpPr txBox="1"/>
          <p:nvPr/>
        </p:nvSpPr>
        <p:spPr>
          <a:xfrm>
            <a:off x="457200" y="457200"/>
            <a:ext cx="824075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Unlike geometry, topology does not focus on measurements such as lengths or angles.</a:t>
            </a:r>
          </a:p>
          <a:p>
            <a:endParaRPr lang="en-IN" sz="3200" dirty="0"/>
          </a:p>
          <a:p>
            <a:r>
              <a:rPr lang="en-IN" sz="3200" dirty="0"/>
              <a:t>Instead, it studies the deeper relationships between spaces.</a:t>
            </a:r>
          </a:p>
        </p:txBody>
      </p:sp>
    </p:spTree>
    <p:extLst>
      <p:ext uri="{BB962C8B-B14F-4D97-AF65-F5344CB8AC3E}">
        <p14:creationId xmlns:p14="http://schemas.microsoft.com/office/powerpoint/2010/main" val="4275719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A802E-2D8A-83BE-0B1D-DC6FF166F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51DF50-354B-0DCE-2137-75F27DB2124C}"/>
              </a:ext>
            </a:extLst>
          </p:cNvPr>
          <p:cNvSpPr txBox="1"/>
          <p:nvPr/>
        </p:nvSpPr>
        <p:spPr>
          <a:xfrm>
            <a:off x="457200" y="457200"/>
            <a:ext cx="82407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Topology provides a foundation for many areas of mathematics, including </a:t>
            </a:r>
            <a:r>
              <a:rPr lang="en-IN" sz="3200" b="1" dirty="0"/>
              <a:t>analysis, geometry,</a:t>
            </a:r>
            <a:br>
              <a:rPr lang="en-IN" sz="3200" b="1" dirty="0"/>
            </a:br>
            <a:r>
              <a:rPr lang="en-IN" sz="3200" b="1" dirty="0"/>
              <a:t>and several advanced theories</a:t>
            </a:r>
            <a:r>
              <a:rPr lang="en-IN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230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50DD5-354A-7FEB-BD9E-1D606F06A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F21C8F-F21F-C249-9547-66CB325A9D53}"/>
              </a:ext>
            </a:extLst>
          </p:cNvPr>
          <p:cNvSpPr txBox="1"/>
          <p:nvPr/>
        </p:nvSpPr>
        <p:spPr>
          <a:xfrm>
            <a:off x="457200" y="457200"/>
            <a:ext cx="824075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In this course we will begin with the concept of a</a:t>
            </a:r>
            <a:br>
              <a:rPr lang="en-IN" sz="3200" dirty="0"/>
            </a:br>
            <a:r>
              <a:rPr lang="en-IN" sz="3200" b="1" dirty="0"/>
              <a:t>topological space</a:t>
            </a:r>
            <a:r>
              <a:rPr lang="en-IN" sz="3200" dirty="0"/>
              <a:t>.</a:t>
            </a:r>
          </a:p>
          <a:p>
            <a:br>
              <a:rPr lang="en-IN" sz="3200" dirty="0"/>
            </a:br>
            <a:r>
              <a:rPr lang="en-IN" sz="3200" dirty="0"/>
              <a:t>This idea provides the framework for studying continuity and other key properties.</a:t>
            </a:r>
          </a:p>
        </p:txBody>
      </p:sp>
    </p:spTree>
    <p:extLst>
      <p:ext uri="{BB962C8B-B14F-4D97-AF65-F5344CB8AC3E}">
        <p14:creationId xmlns:p14="http://schemas.microsoft.com/office/powerpoint/2010/main" val="3562312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2F9DA-2C40-5B89-308E-EC4D8D6CC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087BEC-E49B-8E05-6616-4B1045B2DE3C}"/>
              </a:ext>
            </a:extLst>
          </p:cNvPr>
          <p:cNvSpPr txBox="1"/>
          <p:nvPr/>
        </p:nvSpPr>
        <p:spPr>
          <a:xfrm>
            <a:off x="457200" y="457200"/>
            <a:ext cx="824075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We will explore important ideas such as </a:t>
            </a:r>
            <a:r>
              <a:rPr lang="en-IN" sz="3200" b="1" dirty="0"/>
              <a:t>open sets, closed sets, compactness, and connectedness</a:t>
            </a:r>
            <a:r>
              <a:rPr lang="en-IN" sz="3200" dirty="0"/>
              <a:t>.</a:t>
            </a:r>
          </a:p>
          <a:p>
            <a:endParaRPr lang="en-IN" sz="3200" dirty="0"/>
          </a:p>
          <a:p>
            <a:r>
              <a:rPr lang="en-IN" sz="3200" dirty="0"/>
              <a:t>These concepts form the core of general topology.</a:t>
            </a:r>
          </a:p>
        </p:txBody>
      </p:sp>
    </p:spTree>
    <p:extLst>
      <p:ext uri="{BB962C8B-B14F-4D97-AF65-F5344CB8AC3E}">
        <p14:creationId xmlns:p14="http://schemas.microsoft.com/office/powerpoint/2010/main" val="2844670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8C02C-A2FB-39E5-4330-1D3570CC1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5047A4-8356-694F-77C4-612644C56E5C}"/>
              </a:ext>
            </a:extLst>
          </p:cNvPr>
          <p:cNvSpPr txBox="1"/>
          <p:nvPr/>
        </p:nvSpPr>
        <p:spPr>
          <a:xfrm>
            <a:off x="457200" y="457200"/>
            <a:ext cx="82407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Each week of the course includes short video lectures, illustrative examples, and practice exercises.</a:t>
            </a:r>
          </a:p>
        </p:txBody>
      </p:sp>
    </p:spTree>
    <p:extLst>
      <p:ext uri="{BB962C8B-B14F-4D97-AF65-F5344CB8AC3E}">
        <p14:creationId xmlns:p14="http://schemas.microsoft.com/office/powerpoint/2010/main" val="4185358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FE8BB-B485-C7A6-B244-2DBEA7C29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FF183C-A0D2-3516-47AB-4A415D44B2DB}"/>
              </a:ext>
            </a:extLst>
          </p:cNvPr>
          <p:cNvSpPr txBox="1"/>
          <p:nvPr/>
        </p:nvSpPr>
        <p:spPr>
          <a:xfrm>
            <a:off x="457200" y="457200"/>
            <a:ext cx="83968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You will also have opportunities to test your understanding through </a:t>
            </a:r>
            <a:r>
              <a:rPr lang="en-IN" sz="3200" b="1" dirty="0"/>
              <a:t>quizzes and assignments</a:t>
            </a:r>
            <a:r>
              <a:rPr lang="en-IN" sz="3200" dirty="0"/>
              <a:t>.</a:t>
            </a:r>
          </a:p>
          <a:p>
            <a:endParaRPr lang="en-IN" sz="3200" dirty="0"/>
          </a:p>
          <a:p>
            <a:r>
              <a:rPr lang="en-IN" sz="3200" dirty="0"/>
              <a:t>These will help reinforce the ideas discussed in the lectures.</a:t>
            </a:r>
          </a:p>
        </p:txBody>
      </p:sp>
    </p:spTree>
    <p:extLst>
      <p:ext uri="{BB962C8B-B14F-4D97-AF65-F5344CB8AC3E}">
        <p14:creationId xmlns:p14="http://schemas.microsoft.com/office/powerpoint/2010/main" val="2690028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A6183-CAEB-7D2F-B8C4-F15417B31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4A7258-5CA7-BBA4-81A9-9BD68B340563}"/>
              </a:ext>
            </a:extLst>
          </p:cNvPr>
          <p:cNvSpPr txBox="1"/>
          <p:nvPr/>
        </p:nvSpPr>
        <p:spPr>
          <a:xfrm>
            <a:off x="457200" y="457200"/>
            <a:ext cx="82407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By the end of this course, you will develop a clear introduction to the fundamental concepts of topology.</a:t>
            </a:r>
          </a:p>
        </p:txBody>
      </p:sp>
    </p:spTree>
    <p:extLst>
      <p:ext uri="{BB962C8B-B14F-4D97-AF65-F5344CB8AC3E}">
        <p14:creationId xmlns:p14="http://schemas.microsoft.com/office/powerpoint/2010/main" val="3413472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BB41F-61B4-9C00-2014-9F2626C79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C28E4-B558-C88E-49D3-72345726C8CA}"/>
              </a:ext>
            </a:extLst>
          </p:cNvPr>
          <p:cNvSpPr txBox="1"/>
          <p:nvPr/>
        </p:nvSpPr>
        <p:spPr>
          <a:xfrm>
            <a:off x="457200" y="457200"/>
            <a:ext cx="824075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You will also build the foundation needed to explore more advanced topics in mathematics.</a:t>
            </a:r>
          </a:p>
        </p:txBody>
      </p:sp>
    </p:spTree>
    <p:extLst>
      <p:ext uri="{BB962C8B-B14F-4D97-AF65-F5344CB8AC3E}">
        <p14:creationId xmlns:p14="http://schemas.microsoft.com/office/powerpoint/2010/main" val="344044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451FB-1150-6C1E-5EC5-ED44163D7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486CA8-545F-F0E1-EA1F-F8A6385F696E}"/>
              </a:ext>
            </a:extLst>
          </p:cNvPr>
          <p:cNvSpPr txBox="1"/>
          <p:nvPr/>
        </p:nvSpPr>
        <p:spPr>
          <a:xfrm>
            <a:off x="457200" y="457200"/>
            <a:ext cx="824075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Thank you for joining this journey into topology.</a:t>
            </a:r>
          </a:p>
          <a:p>
            <a:r>
              <a:rPr lang="en-IN" sz="3200" dirty="0"/>
              <a:t>Together we will explore the structure of spaces</a:t>
            </a:r>
            <a:br>
              <a:rPr lang="en-IN" sz="3200" dirty="0"/>
            </a:br>
            <a:r>
              <a:rPr lang="en-IN" sz="3200" dirty="0"/>
              <a:t>and the beauty of mathematics.</a:t>
            </a:r>
          </a:p>
          <a:p>
            <a:endParaRPr lang="en-IN" sz="3200" dirty="0"/>
          </a:p>
          <a:p>
            <a:r>
              <a:rPr lang="en-IN" sz="3200" dirty="0"/>
              <a:t>Let us begin.</a:t>
            </a:r>
          </a:p>
        </p:txBody>
      </p:sp>
    </p:spTree>
    <p:extLst>
      <p:ext uri="{BB962C8B-B14F-4D97-AF65-F5344CB8AC3E}">
        <p14:creationId xmlns:p14="http://schemas.microsoft.com/office/powerpoint/2010/main" val="281437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290</Words>
  <Application>Microsoft Macintosh PowerPoint</Application>
  <PresentationFormat>On-screen Show (4:3)</PresentationFormat>
  <Paragraphs>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17</cp:revision>
  <dcterms:created xsi:type="dcterms:W3CDTF">2013-01-27T09:14:16Z</dcterms:created>
  <dcterms:modified xsi:type="dcterms:W3CDTF">2026-03-13T02:48:47Z</dcterms:modified>
  <cp:category/>
</cp:coreProperties>
</file>